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242F"/>
    <a:srgbClr val="AA97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96"/>
    <p:restoredTop sz="94694"/>
  </p:normalViewPr>
  <p:slideViewPr>
    <p:cSldViewPr snapToGrid="0" snapToObjects="1">
      <p:cViewPr>
        <p:scale>
          <a:sx n="129" d="100"/>
          <a:sy n="129" d="100"/>
        </p:scale>
        <p:origin x="6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183DD1-DB12-614D-B586-D45DC997EB81}"/>
              </a:ext>
            </a:extLst>
          </p:cNvPr>
          <p:cNvSpPr>
            <a:spLocks noGrp="1"/>
          </p:cNvSpPr>
          <p:nvPr>
            <p:ph type="subTitle" idx="1" hasCustomPrompt="1"/>
          </p:nvPr>
        </p:nvSpPr>
        <p:spPr>
          <a:xfrm>
            <a:off x="1524000" y="3602038"/>
            <a:ext cx="9144000" cy="1655762"/>
          </a:xfrm>
        </p:spPr>
        <p:txBody>
          <a:bodyPr/>
          <a:lstStyle>
            <a:lvl1pPr marL="0" indent="0" algn="l">
              <a:buNone/>
              <a:defRPr sz="2400">
                <a:solidFill>
                  <a:srgbClr val="79242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z="2400" dirty="0">
                <a:solidFill>
                  <a:srgbClr val="79242F"/>
                </a:solidFill>
                <a:latin typeface="AvenirNext LT Pro Regular" panose="020B0503020202020204" pitchFamily="34" charset="77"/>
              </a:rPr>
              <a:t>Presentation Subtitle</a:t>
            </a:r>
          </a:p>
        </p:txBody>
      </p:sp>
      <p:sp>
        <p:nvSpPr>
          <p:cNvPr id="4" name="Date Placeholder 3">
            <a:extLst>
              <a:ext uri="{FF2B5EF4-FFF2-40B4-BE49-F238E27FC236}">
                <a16:creationId xmlns:a16="http://schemas.microsoft.com/office/drawing/2014/main" id="{5C30F898-8903-BA48-8639-790A081B501B}"/>
              </a:ext>
            </a:extLst>
          </p:cNvPr>
          <p:cNvSpPr>
            <a:spLocks noGrp="1"/>
          </p:cNvSpPr>
          <p:nvPr>
            <p:ph type="dt" sz="half" idx="10"/>
          </p:nvPr>
        </p:nvSpPr>
        <p:spPr/>
        <p:txBody>
          <a:bodyPr/>
          <a:lstStyle/>
          <a:p>
            <a:fld id="{5E20F639-1228-7243-A2F0-657A69CD7AE0}" type="datetimeFigureOut">
              <a:rPr lang="en-US" smtClean="0"/>
              <a:t>2/13/24</a:t>
            </a:fld>
            <a:endParaRPr lang="en-US" dirty="0"/>
          </a:p>
        </p:txBody>
      </p:sp>
      <p:sp>
        <p:nvSpPr>
          <p:cNvPr id="5" name="Footer Placeholder 4">
            <a:extLst>
              <a:ext uri="{FF2B5EF4-FFF2-40B4-BE49-F238E27FC236}">
                <a16:creationId xmlns:a16="http://schemas.microsoft.com/office/drawing/2014/main" id="{D00B69A9-A507-D34B-B38C-A63D70950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A8B34B-89E4-A34C-9FB1-9226BD6D4067}"/>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7" name="Picture 6">
            <a:extLst>
              <a:ext uri="{FF2B5EF4-FFF2-40B4-BE49-F238E27FC236}">
                <a16:creationId xmlns:a16="http://schemas.microsoft.com/office/drawing/2014/main" id="{1E290CB3-2AF8-DC0A-423A-06A09008CA93}"/>
              </a:ext>
            </a:extLst>
          </p:cNvPr>
          <p:cNvPicPr>
            <a:picLocks noChangeAspect="1"/>
          </p:cNvPicPr>
          <p:nvPr userDrawn="1"/>
        </p:nvPicPr>
        <p:blipFill>
          <a:blip r:embed="rId2"/>
          <a:stretch>
            <a:fillRect/>
          </a:stretch>
        </p:blipFill>
        <p:spPr>
          <a:xfrm>
            <a:off x="4111771" y="571948"/>
            <a:ext cx="3968457" cy="1090806"/>
          </a:xfrm>
          <a:prstGeom prst="rect">
            <a:avLst/>
          </a:prstGeom>
        </p:spPr>
      </p:pic>
      <p:sp>
        <p:nvSpPr>
          <p:cNvPr id="8" name="Rectangle 7">
            <a:extLst>
              <a:ext uri="{FF2B5EF4-FFF2-40B4-BE49-F238E27FC236}">
                <a16:creationId xmlns:a16="http://schemas.microsoft.com/office/drawing/2014/main" id="{C990C7CE-B5A4-820A-320C-872DDE241E7F}"/>
              </a:ext>
            </a:extLst>
          </p:cNvPr>
          <p:cNvSpPr/>
          <p:nvPr userDrawn="1"/>
        </p:nvSpPr>
        <p:spPr>
          <a:xfrm>
            <a:off x="0" y="2195138"/>
            <a:ext cx="12192000" cy="1307717"/>
          </a:xfrm>
          <a:prstGeom prst="rect">
            <a:avLst/>
          </a:prstGeom>
          <a:solidFill>
            <a:srgbClr val="AA97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B31AFC4A-CD2F-4DFB-B4C5-B63E18762FB5}"/>
              </a:ext>
            </a:extLst>
          </p:cNvPr>
          <p:cNvSpPr>
            <a:spLocks noGrp="1"/>
          </p:cNvSpPr>
          <p:nvPr>
            <p:ph type="ctrTitle"/>
          </p:nvPr>
        </p:nvSpPr>
        <p:spPr>
          <a:xfrm>
            <a:off x="2032551" y="2297736"/>
            <a:ext cx="8126896" cy="1102519"/>
          </a:xfrm>
        </p:spPr>
        <p:txBody>
          <a:bodyPr/>
          <a:lstStyle>
            <a:lvl1pPr algn="l">
              <a:defRPr sz="4400" b="1" i="0">
                <a:solidFill>
                  <a:schemeClr val="bg1"/>
                </a:solidFill>
                <a:latin typeface="Avenir Next LT Pro" panose="020B0504020202020204" pitchFamily="34" charset="77"/>
                <a:ea typeface="Helvetica Neue" panose="02000503000000020004" pitchFamily="2" charset="0"/>
                <a:cs typeface="Helvetica Neue" panose="02000503000000020004" pitchFamily="2" charset="0"/>
              </a:defRPr>
            </a:lvl1pPr>
          </a:lstStyle>
          <a:p>
            <a:r>
              <a:rPr lang="en-US" dirty="0"/>
              <a:t>Click to edit Master title style</a:t>
            </a:r>
          </a:p>
        </p:txBody>
      </p:sp>
    </p:spTree>
    <p:extLst>
      <p:ext uri="{BB962C8B-B14F-4D97-AF65-F5344CB8AC3E}">
        <p14:creationId xmlns:p14="http://schemas.microsoft.com/office/powerpoint/2010/main" val="1733451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dirty="0">
                <a:solidFill>
                  <a:srgbClr val="79242F"/>
                </a:solidFill>
                <a:latin typeface="AvenirNext LT Pro Medium" panose="020B0503020202020204" pitchFamily="34" charset="77"/>
              </a:rPr>
              <a:t>Page Title</a:t>
            </a:r>
            <a:endParaRPr lang="en-US" dirty="0"/>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lvl1pPr>
              <a:defRPr>
                <a:latin typeface="Avenir Next LT Pro" panose="020B0504020202020204" pitchFamily="34" charset="77"/>
              </a:defRPr>
            </a:lvl1pPr>
            <a:lvl2pPr marL="800100" indent="-342900">
              <a:buFont typeface="Arial" panose="020B0604020202020204" pitchFamily="34" charset="0"/>
              <a:buChar char="•"/>
              <a:defRPr>
                <a:latin typeface="Avenir Next LT Pro" panose="020B0504020202020204" pitchFamily="34" charset="77"/>
              </a:defRPr>
            </a:lvl2pPr>
            <a:lvl3pPr>
              <a:defRPr>
                <a:latin typeface="Avenir Next LT Pro" panose="020B0504020202020204" pitchFamily="34" charset="77"/>
              </a:defRPr>
            </a:lvl3pPr>
            <a:lvl4pPr>
              <a:defRPr>
                <a:latin typeface="Avenir Next LT Pro" panose="020B0504020202020204" pitchFamily="34" charset="77"/>
              </a:defRPr>
            </a:lvl4pPr>
            <a:lvl5pPr>
              <a:defRPr>
                <a:latin typeface="Avenir Next LT Pro" panose="020B0504020202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5" name="Footer Placeholder 4">
            <a:extLst>
              <a:ext uri="{FF2B5EF4-FFF2-40B4-BE49-F238E27FC236}">
                <a16:creationId xmlns:a16="http://schemas.microsoft.com/office/drawing/2014/main" id="{B7E61ED5-E582-2B4D-8B7D-1980438C9F3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49CB1F-DB6C-ED49-8E32-DF2FE5F4EB7D}"/>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8" name="Picture 7">
            <a:extLst>
              <a:ext uri="{FF2B5EF4-FFF2-40B4-BE49-F238E27FC236}">
                <a16:creationId xmlns:a16="http://schemas.microsoft.com/office/drawing/2014/main" id="{90FE1675-FB66-481C-52CD-144A4DD59198}"/>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92980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79242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BD46-F0D4-6D4D-BE5B-DCFD06B89794}"/>
              </a:ext>
            </a:extLst>
          </p:cNvPr>
          <p:cNvSpPr>
            <a:spLocks noGrp="1"/>
          </p:cNvSpPr>
          <p:nvPr>
            <p:ph type="title" hasCustomPrompt="1"/>
          </p:nvPr>
        </p:nvSpPr>
        <p:spPr>
          <a:xfrm>
            <a:off x="831850" y="1709738"/>
            <a:ext cx="10515600" cy="2852737"/>
          </a:xfrm>
        </p:spPr>
        <p:txBody>
          <a:bodyPr anchor="b"/>
          <a:lstStyle>
            <a:lvl1pPr>
              <a:defRPr sz="6000">
                <a:solidFill>
                  <a:schemeClr val="bg1"/>
                </a:solidFill>
                <a:latin typeface="Avenir Next LT Pro" panose="020B0504020202020204" pitchFamily="34" charset="77"/>
              </a:defRPr>
            </a:lvl1pPr>
          </a:lstStyle>
          <a:p>
            <a:r>
              <a:rPr lang="en-US" dirty="0">
                <a:latin typeface="Avenir Next LT Pro" panose="020B0504020202020204" pitchFamily="34" charset="77"/>
              </a:rPr>
              <a:t>TITLE</a:t>
            </a:r>
            <a:endParaRPr lang="en-US" dirty="0"/>
          </a:p>
        </p:txBody>
      </p:sp>
      <p:sp>
        <p:nvSpPr>
          <p:cNvPr id="3" name="Text Placeholder 2">
            <a:extLst>
              <a:ext uri="{FF2B5EF4-FFF2-40B4-BE49-F238E27FC236}">
                <a16:creationId xmlns:a16="http://schemas.microsoft.com/office/drawing/2014/main" id="{5D7AAEA8-D1F7-B343-B162-190526C317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venir Next LT Pro" panose="020B050402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A66C417-90E3-E343-895C-5DD9062373B6}"/>
              </a:ext>
            </a:extLst>
          </p:cNvPr>
          <p:cNvSpPr>
            <a:spLocks noGrp="1"/>
          </p:cNvSpPr>
          <p:nvPr>
            <p:ph type="dt" sz="half" idx="10"/>
          </p:nvPr>
        </p:nvSpPr>
        <p:spPr/>
        <p:txBody>
          <a:bodyPr/>
          <a:lstStyle/>
          <a:p>
            <a:fld id="{5E20F639-1228-7243-A2F0-657A69CD7AE0}" type="datetimeFigureOut">
              <a:rPr lang="en-US" smtClean="0"/>
              <a:t>2/13/24</a:t>
            </a:fld>
            <a:endParaRPr lang="en-US"/>
          </a:p>
        </p:txBody>
      </p:sp>
      <p:sp>
        <p:nvSpPr>
          <p:cNvPr id="5" name="Footer Placeholder 4">
            <a:extLst>
              <a:ext uri="{FF2B5EF4-FFF2-40B4-BE49-F238E27FC236}">
                <a16:creationId xmlns:a16="http://schemas.microsoft.com/office/drawing/2014/main" id="{82416B93-C17E-9C44-A6FB-6709C4CE2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A47970-5174-B74A-8707-778A779615B5}"/>
              </a:ext>
            </a:extLst>
          </p:cNvPr>
          <p:cNvSpPr>
            <a:spLocks noGrp="1"/>
          </p:cNvSpPr>
          <p:nvPr>
            <p:ph type="sldNum" sz="quarter" idx="12"/>
          </p:nvPr>
        </p:nvSpPr>
        <p:spPr/>
        <p:txBody>
          <a:bodyPr/>
          <a:lstStyle/>
          <a:p>
            <a:fld id="{6BAE449B-A651-C547-8627-49764A228AE9}" type="slidenum">
              <a:rPr lang="en-US" smtClean="0"/>
              <a:t>‹#›</a:t>
            </a:fld>
            <a:endParaRPr lang="en-US"/>
          </a:p>
        </p:txBody>
      </p:sp>
    </p:spTree>
    <p:extLst>
      <p:ext uri="{BB962C8B-B14F-4D97-AF65-F5344CB8AC3E}">
        <p14:creationId xmlns:p14="http://schemas.microsoft.com/office/powerpoint/2010/main" val="2164096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60BA7-8AA2-314D-8176-9E5A15C98DA5}"/>
              </a:ext>
            </a:extLst>
          </p:cNvPr>
          <p:cNvSpPr>
            <a:spLocks noGrp="1"/>
          </p:cNvSpPr>
          <p:nvPr>
            <p:ph type="title" hasCustomPrompt="1"/>
          </p:nvPr>
        </p:nvSpPr>
        <p:spPr/>
        <p:txBody>
          <a:bodyPr/>
          <a:lstStyle/>
          <a:p>
            <a:r>
              <a:rPr lang="en-US" sz="4400" b="1" dirty="0">
                <a:solidFill>
                  <a:srgbClr val="79242F"/>
                </a:solidFill>
                <a:latin typeface="AvenirNext LT Pro Medium" panose="020B0503020202020204" pitchFamily="34" charset="77"/>
              </a:rPr>
              <a:t>Page Title</a:t>
            </a:r>
            <a:endParaRPr lang="en-US" dirty="0"/>
          </a:p>
        </p:txBody>
      </p:sp>
      <p:sp>
        <p:nvSpPr>
          <p:cNvPr id="3" name="Content Placeholder 2">
            <a:extLst>
              <a:ext uri="{FF2B5EF4-FFF2-40B4-BE49-F238E27FC236}">
                <a16:creationId xmlns:a16="http://schemas.microsoft.com/office/drawing/2014/main" id="{047E7319-7F6D-6641-BF71-986348198ACB}"/>
              </a:ext>
            </a:extLst>
          </p:cNvPr>
          <p:cNvSpPr>
            <a:spLocks noGrp="1"/>
          </p:cNvSpPr>
          <p:nvPr>
            <p:ph sz="half" idx="1"/>
          </p:nvPr>
        </p:nvSpPr>
        <p:spPr>
          <a:xfrm>
            <a:off x="838200" y="1825625"/>
            <a:ext cx="5181600" cy="4351338"/>
          </a:xfrm>
        </p:spPr>
        <p:txBody>
          <a:bodyPr/>
          <a:lstStyle>
            <a:lvl1pPr>
              <a:defRPr>
                <a:latin typeface="Avenir Next LT Pro" panose="020B0504020202020204" pitchFamily="34" charset="77"/>
              </a:defRPr>
            </a:lvl1pPr>
            <a:lvl2pPr>
              <a:defRPr>
                <a:latin typeface="Avenir Next LT Pro" panose="020B0504020202020204" pitchFamily="34" charset="77"/>
              </a:defRPr>
            </a:lvl2pPr>
            <a:lvl3pPr>
              <a:defRPr>
                <a:latin typeface="Avenir Next LT Pro" panose="020B0504020202020204" pitchFamily="34" charset="77"/>
              </a:defRPr>
            </a:lvl3pPr>
            <a:lvl4pPr>
              <a:defRPr>
                <a:latin typeface="Avenir Next LT Pro" panose="020B0504020202020204" pitchFamily="34" charset="77"/>
              </a:defRPr>
            </a:lvl4pPr>
            <a:lvl5pPr>
              <a:defRPr>
                <a:latin typeface="Avenir Next LT Pro" panose="020B0504020202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8454C7C-5211-1347-9AE5-18B392C2D9DA}"/>
              </a:ext>
            </a:extLst>
          </p:cNvPr>
          <p:cNvSpPr>
            <a:spLocks noGrp="1"/>
          </p:cNvSpPr>
          <p:nvPr>
            <p:ph sz="half" idx="2"/>
          </p:nvPr>
        </p:nvSpPr>
        <p:spPr>
          <a:xfrm>
            <a:off x="6172200" y="1825625"/>
            <a:ext cx="5181600" cy="4351338"/>
          </a:xfrm>
        </p:spPr>
        <p:txBody>
          <a:bodyPr/>
          <a:lstStyle>
            <a:lvl1pPr>
              <a:defRPr>
                <a:latin typeface="Avenir Next LT Pro" panose="020B0504020202020204" pitchFamily="34" charset="77"/>
              </a:defRPr>
            </a:lvl1pPr>
            <a:lvl2pPr>
              <a:defRPr>
                <a:latin typeface="Avenir Next LT Pro" panose="020B0504020202020204" pitchFamily="34" charset="77"/>
              </a:defRPr>
            </a:lvl2pPr>
            <a:lvl3pPr>
              <a:defRPr>
                <a:latin typeface="Avenir Next LT Pro" panose="020B0504020202020204" pitchFamily="34" charset="77"/>
              </a:defRPr>
            </a:lvl3pPr>
            <a:lvl4pPr>
              <a:defRPr>
                <a:latin typeface="Avenir Next LT Pro" panose="020B0504020202020204" pitchFamily="34" charset="77"/>
              </a:defRPr>
            </a:lvl4pPr>
            <a:lvl5pPr>
              <a:defRPr>
                <a:latin typeface="Avenir Next LT Pro" panose="020B0504020202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DBEF9F1B-353C-234B-92AA-CFD46A4A9B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F6A536-F688-2544-88EB-6AE66C91789E}"/>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8" name="Picture 7">
            <a:extLst>
              <a:ext uri="{FF2B5EF4-FFF2-40B4-BE49-F238E27FC236}">
                <a16:creationId xmlns:a16="http://schemas.microsoft.com/office/drawing/2014/main" id="{4DEB4BE8-DD58-10A7-0E4C-769F7EFE71B6}"/>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167845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D54F1-95A2-F44F-8D2B-09E5C71F8EE0}"/>
              </a:ext>
            </a:extLst>
          </p:cNvPr>
          <p:cNvSpPr>
            <a:spLocks noGrp="1"/>
          </p:cNvSpPr>
          <p:nvPr>
            <p:ph type="title" hasCustomPrompt="1"/>
          </p:nvPr>
        </p:nvSpPr>
        <p:spPr>
          <a:xfrm>
            <a:off x="839788" y="365125"/>
            <a:ext cx="10515600" cy="1325563"/>
          </a:xfrm>
        </p:spPr>
        <p:txBody>
          <a:bodyPr/>
          <a:lstStyle/>
          <a:p>
            <a:r>
              <a:rPr lang="en-US" sz="4400" b="1" dirty="0">
                <a:solidFill>
                  <a:srgbClr val="79242F"/>
                </a:solidFill>
                <a:latin typeface="AvenirNext LT Pro Medium" panose="020B0503020202020204" pitchFamily="34" charset="77"/>
              </a:rPr>
              <a:t>Page Title</a:t>
            </a:r>
            <a:endParaRPr lang="en-US" dirty="0"/>
          </a:p>
        </p:txBody>
      </p:sp>
      <p:sp>
        <p:nvSpPr>
          <p:cNvPr id="3" name="Text Placeholder 2">
            <a:extLst>
              <a:ext uri="{FF2B5EF4-FFF2-40B4-BE49-F238E27FC236}">
                <a16:creationId xmlns:a16="http://schemas.microsoft.com/office/drawing/2014/main" id="{EB9AFCD4-D2DF-FB44-8EAF-E719DF48C24A}"/>
              </a:ext>
            </a:extLst>
          </p:cNvPr>
          <p:cNvSpPr>
            <a:spLocks noGrp="1"/>
          </p:cNvSpPr>
          <p:nvPr>
            <p:ph type="body" idx="1"/>
          </p:nvPr>
        </p:nvSpPr>
        <p:spPr>
          <a:xfrm>
            <a:off x="839788" y="1681163"/>
            <a:ext cx="5157787" cy="823912"/>
          </a:xfrm>
        </p:spPr>
        <p:txBody>
          <a:bodyPr anchor="b"/>
          <a:lstStyle>
            <a:lvl1pPr marL="0" indent="0">
              <a:buNone/>
              <a:defRPr sz="2400" b="1">
                <a:latin typeface="Avenir Next LT Pro" panose="020B0504020202020204"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5BAA3108-F9E3-F244-BCC8-64345EF964CC}"/>
              </a:ext>
            </a:extLst>
          </p:cNvPr>
          <p:cNvSpPr>
            <a:spLocks noGrp="1"/>
          </p:cNvSpPr>
          <p:nvPr>
            <p:ph sz="half" idx="2"/>
          </p:nvPr>
        </p:nvSpPr>
        <p:spPr>
          <a:xfrm>
            <a:off x="839788" y="2505075"/>
            <a:ext cx="5157787" cy="3684588"/>
          </a:xfrm>
        </p:spPr>
        <p:txBody>
          <a:bodyPr/>
          <a:lstStyle>
            <a:lvl1pPr>
              <a:defRPr>
                <a:latin typeface="Avenir Next LT Pro" panose="020B0504020202020204" pitchFamily="34" charset="77"/>
              </a:defRPr>
            </a:lvl1pPr>
            <a:lvl2pPr>
              <a:defRPr>
                <a:latin typeface="Avenir Next LT Pro" panose="020B0504020202020204" pitchFamily="34" charset="77"/>
              </a:defRPr>
            </a:lvl2pPr>
            <a:lvl3pPr>
              <a:defRPr>
                <a:latin typeface="Avenir Next LT Pro" panose="020B0504020202020204" pitchFamily="34" charset="77"/>
              </a:defRPr>
            </a:lvl3pPr>
            <a:lvl4pPr>
              <a:defRPr>
                <a:latin typeface="Avenir Next LT Pro" panose="020B0504020202020204" pitchFamily="34" charset="77"/>
              </a:defRPr>
            </a:lvl4pPr>
            <a:lvl5pPr>
              <a:defRPr>
                <a:latin typeface="Avenir Next LT Pro" panose="020B0504020202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4D32B7C-53EB-5D42-B377-8305C54B1389}"/>
              </a:ext>
            </a:extLst>
          </p:cNvPr>
          <p:cNvSpPr>
            <a:spLocks noGrp="1"/>
          </p:cNvSpPr>
          <p:nvPr>
            <p:ph type="body" sz="quarter" idx="3"/>
          </p:nvPr>
        </p:nvSpPr>
        <p:spPr>
          <a:xfrm>
            <a:off x="6172200" y="1681163"/>
            <a:ext cx="5183188" cy="823912"/>
          </a:xfrm>
        </p:spPr>
        <p:txBody>
          <a:bodyPr anchor="b"/>
          <a:lstStyle>
            <a:lvl1pPr marL="0" indent="0">
              <a:buNone/>
              <a:defRPr sz="2400" b="1">
                <a:latin typeface="Avenir Next LT Pro" panose="020B0504020202020204"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73E3EDE-2629-934D-89E1-0F207A26E422}"/>
              </a:ext>
            </a:extLst>
          </p:cNvPr>
          <p:cNvSpPr>
            <a:spLocks noGrp="1"/>
          </p:cNvSpPr>
          <p:nvPr>
            <p:ph sz="quarter" idx="4"/>
          </p:nvPr>
        </p:nvSpPr>
        <p:spPr>
          <a:xfrm>
            <a:off x="6172200" y="2505075"/>
            <a:ext cx="5183188" cy="3684588"/>
          </a:xfrm>
        </p:spPr>
        <p:txBody>
          <a:bodyPr/>
          <a:lstStyle>
            <a:lvl1pPr>
              <a:defRPr>
                <a:latin typeface="Avenir Next LT Pro" panose="020B0504020202020204" pitchFamily="34" charset="77"/>
              </a:defRPr>
            </a:lvl1pPr>
            <a:lvl2pPr>
              <a:defRPr>
                <a:latin typeface="Avenir Next LT Pro" panose="020B0504020202020204" pitchFamily="34" charset="77"/>
              </a:defRPr>
            </a:lvl2pPr>
            <a:lvl3pPr>
              <a:defRPr>
                <a:latin typeface="Avenir Next LT Pro" panose="020B0504020202020204" pitchFamily="34" charset="77"/>
              </a:defRPr>
            </a:lvl3pPr>
            <a:lvl4pPr>
              <a:defRPr>
                <a:latin typeface="Avenir Next LT Pro" panose="020B0504020202020204" pitchFamily="34" charset="77"/>
              </a:defRPr>
            </a:lvl4pPr>
            <a:lvl5pPr>
              <a:defRPr>
                <a:latin typeface="Avenir Next LT Pro" panose="020B0504020202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BC94AF4-5581-2143-A2D2-65CCB9A50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BCA8EA-61D3-E34B-A35B-BBC87F7CA5F5}"/>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10" name="Picture 9">
            <a:extLst>
              <a:ext uri="{FF2B5EF4-FFF2-40B4-BE49-F238E27FC236}">
                <a16:creationId xmlns:a16="http://schemas.microsoft.com/office/drawing/2014/main" id="{D4A4107B-A8F3-D02E-2133-A792416CDCDB}"/>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262229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AB99-57D4-284A-8657-67162EA253F5}"/>
              </a:ext>
            </a:extLst>
          </p:cNvPr>
          <p:cNvSpPr>
            <a:spLocks noGrp="1"/>
          </p:cNvSpPr>
          <p:nvPr>
            <p:ph type="title" hasCustomPrompt="1"/>
          </p:nvPr>
        </p:nvSpPr>
        <p:spPr/>
        <p:txBody>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dirty="0">
                <a:solidFill>
                  <a:srgbClr val="79242F"/>
                </a:solidFill>
                <a:latin typeface="AvenirNext LT Pro Medium" panose="020B0503020202020204" pitchFamily="34" charset="77"/>
              </a:rPr>
              <a:t>Page Title</a:t>
            </a:r>
            <a:endParaRPr lang="en-US" dirty="0"/>
          </a:p>
        </p:txBody>
      </p:sp>
      <p:sp>
        <p:nvSpPr>
          <p:cNvPr id="4" name="Footer Placeholder 3">
            <a:extLst>
              <a:ext uri="{FF2B5EF4-FFF2-40B4-BE49-F238E27FC236}">
                <a16:creationId xmlns:a16="http://schemas.microsoft.com/office/drawing/2014/main" id="{C5CE7267-7A59-E049-95BE-40783D60B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B73F9F-D550-2A42-A7AF-06BEA1758FE4}"/>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7" name="Picture 6">
            <a:extLst>
              <a:ext uri="{FF2B5EF4-FFF2-40B4-BE49-F238E27FC236}">
                <a16:creationId xmlns:a16="http://schemas.microsoft.com/office/drawing/2014/main" id="{D7770AF2-F597-52C0-5B49-5E74E1C49A94}"/>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134615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FE96FC-286A-F74F-88ED-DA61383B5F0F}"/>
              </a:ext>
            </a:extLst>
          </p:cNvPr>
          <p:cNvSpPr>
            <a:spLocks noGrp="1"/>
          </p:cNvSpPr>
          <p:nvPr>
            <p:ph type="dt" sz="half" idx="10"/>
          </p:nvPr>
        </p:nvSpPr>
        <p:spPr/>
        <p:txBody>
          <a:bodyPr/>
          <a:lstStyle/>
          <a:p>
            <a:fld id="{5E20F639-1228-7243-A2F0-657A69CD7AE0}" type="datetimeFigureOut">
              <a:rPr lang="en-US" smtClean="0"/>
              <a:t>2/13/24</a:t>
            </a:fld>
            <a:endParaRPr lang="en-US"/>
          </a:p>
        </p:txBody>
      </p:sp>
      <p:sp>
        <p:nvSpPr>
          <p:cNvPr id="3" name="Footer Placeholder 2">
            <a:extLst>
              <a:ext uri="{FF2B5EF4-FFF2-40B4-BE49-F238E27FC236}">
                <a16:creationId xmlns:a16="http://schemas.microsoft.com/office/drawing/2014/main" id="{370B1035-C3D5-8949-94F4-3608A05C75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F5086A-72E5-F24E-89F7-00B342746CFF}"/>
              </a:ext>
            </a:extLst>
          </p:cNvPr>
          <p:cNvSpPr>
            <a:spLocks noGrp="1"/>
          </p:cNvSpPr>
          <p:nvPr>
            <p:ph type="sldNum" sz="quarter" idx="12"/>
          </p:nvPr>
        </p:nvSpPr>
        <p:spPr/>
        <p:txBody>
          <a:bodyPr/>
          <a:lstStyle/>
          <a:p>
            <a:fld id="{6BAE449B-A651-C547-8627-49764A228AE9}" type="slidenum">
              <a:rPr lang="en-US" smtClean="0"/>
              <a:t>‹#›</a:t>
            </a:fld>
            <a:endParaRPr lang="en-US"/>
          </a:p>
        </p:txBody>
      </p:sp>
    </p:spTree>
    <p:extLst>
      <p:ext uri="{BB962C8B-B14F-4D97-AF65-F5344CB8AC3E}">
        <p14:creationId xmlns:p14="http://schemas.microsoft.com/office/powerpoint/2010/main" val="1447420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498F-D0FD-B94B-9D6D-5D89C902816A}"/>
              </a:ext>
            </a:extLst>
          </p:cNvPr>
          <p:cNvSpPr>
            <a:spLocks noGrp="1"/>
          </p:cNvSpPr>
          <p:nvPr>
            <p:ph type="title"/>
          </p:nvPr>
        </p:nvSpPr>
        <p:spPr>
          <a:xfrm>
            <a:off x="839788" y="457200"/>
            <a:ext cx="3932237" cy="1600200"/>
          </a:xfrm>
        </p:spPr>
        <p:txBody>
          <a:bodyPr anchor="b"/>
          <a:lstStyle>
            <a:lvl1pPr>
              <a:defRPr sz="3200">
                <a:latin typeface="Avenir Next LT Pro" panose="020B0504020202020204" pitchFamily="34"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C68973F4-30EF-6947-A429-E7D907E7DA05}"/>
              </a:ext>
            </a:extLst>
          </p:cNvPr>
          <p:cNvSpPr>
            <a:spLocks noGrp="1"/>
          </p:cNvSpPr>
          <p:nvPr>
            <p:ph idx="1"/>
          </p:nvPr>
        </p:nvSpPr>
        <p:spPr>
          <a:xfrm>
            <a:off x="5183188" y="987425"/>
            <a:ext cx="6172200" cy="4873625"/>
          </a:xfrm>
        </p:spPr>
        <p:txBody>
          <a:bodyPr/>
          <a:lstStyle>
            <a:lvl1pPr>
              <a:defRPr sz="3200">
                <a:latin typeface="Avenir Next LT Pro" panose="020B0504020202020204" pitchFamily="34" charset="77"/>
              </a:defRPr>
            </a:lvl1pPr>
            <a:lvl2pPr>
              <a:defRPr sz="2800">
                <a:latin typeface="Avenir Next LT Pro" panose="020B0504020202020204" pitchFamily="34" charset="77"/>
              </a:defRPr>
            </a:lvl2pPr>
            <a:lvl3pPr>
              <a:defRPr sz="2400">
                <a:latin typeface="Avenir Next LT Pro" panose="020B0504020202020204" pitchFamily="34" charset="77"/>
              </a:defRPr>
            </a:lvl3pPr>
            <a:lvl4pPr>
              <a:defRPr sz="2000">
                <a:latin typeface="Avenir Next LT Pro" panose="020B0504020202020204" pitchFamily="34" charset="77"/>
              </a:defRPr>
            </a:lvl4pPr>
            <a:lvl5pPr>
              <a:defRPr sz="2000">
                <a:latin typeface="Avenir Next LT Pro" panose="020B0504020202020204" pitchFamily="34"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BE343CFF-3D65-AA46-B844-9AAF0E6C2D8C}"/>
              </a:ext>
            </a:extLst>
          </p:cNvPr>
          <p:cNvSpPr>
            <a:spLocks noGrp="1"/>
          </p:cNvSpPr>
          <p:nvPr>
            <p:ph type="body" sz="half" idx="2"/>
          </p:nvPr>
        </p:nvSpPr>
        <p:spPr>
          <a:xfrm>
            <a:off x="839788" y="2057400"/>
            <a:ext cx="3932237" cy="3811588"/>
          </a:xfrm>
        </p:spPr>
        <p:txBody>
          <a:bodyPr/>
          <a:lstStyle>
            <a:lvl1pPr marL="0" indent="0">
              <a:buNone/>
              <a:defRPr sz="1600">
                <a:latin typeface="Avenir Next LT Pro" panose="020B0504020202020204"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7EBAB8E4-E017-D54C-9349-7DA29B7258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93A90-DC44-2E43-8F77-BD8ECA60E9DF}"/>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8" name="Picture 7">
            <a:extLst>
              <a:ext uri="{FF2B5EF4-FFF2-40B4-BE49-F238E27FC236}">
                <a16:creationId xmlns:a16="http://schemas.microsoft.com/office/drawing/2014/main" id="{9B514150-EE6B-4C99-1415-38F2AD634309}"/>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2901864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B909F-A53A-3F46-BE09-2E4B5C79DF81}"/>
              </a:ext>
            </a:extLst>
          </p:cNvPr>
          <p:cNvSpPr>
            <a:spLocks noGrp="1"/>
          </p:cNvSpPr>
          <p:nvPr>
            <p:ph type="title"/>
          </p:nvPr>
        </p:nvSpPr>
        <p:spPr>
          <a:xfrm>
            <a:off x="839788" y="457200"/>
            <a:ext cx="3932237" cy="1600200"/>
          </a:xfrm>
        </p:spPr>
        <p:txBody>
          <a:bodyPr anchor="b"/>
          <a:lstStyle>
            <a:lvl1pPr>
              <a:defRPr sz="3200">
                <a:latin typeface="Avenir Next LT Pro" panose="020B0504020202020204" pitchFamily="34"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8255BA10-8258-4049-9552-648F59B1565D}"/>
              </a:ext>
            </a:extLst>
          </p:cNvPr>
          <p:cNvSpPr>
            <a:spLocks noGrp="1"/>
          </p:cNvSpPr>
          <p:nvPr>
            <p:ph type="pic" idx="1"/>
          </p:nvPr>
        </p:nvSpPr>
        <p:spPr>
          <a:xfrm>
            <a:off x="5183188" y="987425"/>
            <a:ext cx="6172200" cy="4873625"/>
          </a:xfrm>
        </p:spPr>
        <p:txBody>
          <a:bodyPr/>
          <a:lstStyle>
            <a:lvl1pPr marL="0" indent="0">
              <a:buNone/>
              <a:defRPr sz="3200">
                <a:latin typeface="Avenir Next LT Pro" panose="020B050402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9D4FA86-F8E1-E746-B544-A5D02AE33A7C}"/>
              </a:ext>
            </a:extLst>
          </p:cNvPr>
          <p:cNvSpPr>
            <a:spLocks noGrp="1"/>
          </p:cNvSpPr>
          <p:nvPr>
            <p:ph type="body" sz="half" idx="2"/>
          </p:nvPr>
        </p:nvSpPr>
        <p:spPr>
          <a:xfrm>
            <a:off x="839788" y="2057400"/>
            <a:ext cx="3932237" cy="3811588"/>
          </a:xfrm>
        </p:spPr>
        <p:txBody>
          <a:bodyPr/>
          <a:lstStyle>
            <a:lvl1pPr marL="0" indent="0">
              <a:buNone/>
              <a:defRPr sz="1600">
                <a:latin typeface="Avenir Next LT Pro" panose="020B0504020202020204"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40D28C9F-212D-9B4E-B4A7-C9FD528FF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03693-08CB-2E44-88B2-3E26DEC8A4BA}"/>
              </a:ext>
            </a:extLst>
          </p:cNvPr>
          <p:cNvSpPr>
            <a:spLocks noGrp="1"/>
          </p:cNvSpPr>
          <p:nvPr>
            <p:ph type="sldNum" sz="quarter" idx="12"/>
          </p:nvPr>
        </p:nvSpPr>
        <p:spPr/>
        <p:txBody>
          <a:bodyPr/>
          <a:lstStyle/>
          <a:p>
            <a:fld id="{6BAE449B-A651-C547-8627-49764A228AE9}" type="slidenum">
              <a:rPr lang="en-US" smtClean="0"/>
              <a:t>‹#›</a:t>
            </a:fld>
            <a:endParaRPr lang="en-US"/>
          </a:p>
        </p:txBody>
      </p:sp>
      <p:pic>
        <p:nvPicPr>
          <p:cNvPr id="8" name="Picture 7">
            <a:extLst>
              <a:ext uri="{FF2B5EF4-FFF2-40B4-BE49-F238E27FC236}">
                <a16:creationId xmlns:a16="http://schemas.microsoft.com/office/drawing/2014/main" id="{4AB69876-3BD2-9A6E-6EF9-65475082749F}"/>
              </a:ext>
            </a:extLst>
          </p:cNvPr>
          <p:cNvPicPr>
            <a:picLocks noChangeAspect="1"/>
          </p:cNvPicPr>
          <p:nvPr userDrawn="1"/>
        </p:nvPicPr>
        <p:blipFill>
          <a:blip r:embed="rId2"/>
          <a:stretch>
            <a:fillRect/>
          </a:stretch>
        </p:blipFill>
        <p:spPr>
          <a:xfrm>
            <a:off x="838200" y="6279586"/>
            <a:ext cx="1886902" cy="518651"/>
          </a:xfrm>
          <a:prstGeom prst="rect">
            <a:avLst/>
          </a:prstGeom>
        </p:spPr>
      </p:pic>
    </p:spTree>
    <p:extLst>
      <p:ext uri="{BB962C8B-B14F-4D97-AF65-F5344CB8AC3E}">
        <p14:creationId xmlns:p14="http://schemas.microsoft.com/office/powerpoint/2010/main" val="1859891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07BEB-95F2-9F41-A40F-C00A3F6F68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080B11-058F-314F-9F28-C03C91104E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749ABF-9E36-F648-9EAF-BEBFB7157E09}"/>
              </a:ext>
            </a:extLst>
          </p:cNvPr>
          <p:cNvSpPr>
            <a:spLocks noGrp="1"/>
          </p:cNvSpPr>
          <p:nvPr>
            <p:ph type="dt" sz="half" idx="10"/>
          </p:nvPr>
        </p:nvSpPr>
        <p:spPr/>
        <p:txBody>
          <a:bodyPr/>
          <a:lstStyle/>
          <a:p>
            <a:fld id="{5E20F639-1228-7243-A2F0-657A69CD7AE0}" type="datetimeFigureOut">
              <a:rPr lang="en-US" smtClean="0"/>
              <a:t>2/13/24</a:t>
            </a:fld>
            <a:endParaRPr lang="en-US"/>
          </a:p>
        </p:txBody>
      </p:sp>
      <p:sp>
        <p:nvSpPr>
          <p:cNvPr id="5" name="Footer Placeholder 4">
            <a:extLst>
              <a:ext uri="{FF2B5EF4-FFF2-40B4-BE49-F238E27FC236}">
                <a16:creationId xmlns:a16="http://schemas.microsoft.com/office/drawing/2014/main" id="{0D1FF281-B4FB-F949-80E6-6EE328E0F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C725F-1CDB-CD45-9DFC-04B84610FACE}"/>
              </a:ext>
            </a:extLst>
          </p:cNvPr>
          <p:cNvSpPr>
            <a:spLocks noGrp="1"/>
          </p:cNvSpPr>
          <p:nvPr>
            <p:ph type="sldNum" sz="quarter" idx="12"/>
          </p:nvPr>
        </p:nvSpPr>
        <p:spPr/>
        <p:txBody>
          <a:bodyPr/>
          <a:lstStyle/>
          <a:p>
            <a:fld id="{6BAE449B-A651-C547-8627-49764A228AE9}" type="slidenum">
              <a:rPr lang="en-US" smtClean="0"/>
              <a:t>‹#›</a:t>
            </a:fld>
            <a:endParaRPr lang="en-US"/>
          </a:p>
        </p:txBody>
      </p:sp>
    </p:spTree>
    <p:extLst>
      <p:ext uri="{BB962C8B-B14F-4D97-AF65-F5344CB8AC3E}">
        <p14:creationId xmlns:p14="http://schemas.microsoft.com/office/powerpoint/2010/main" val="3080041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9A91C7-B109-AF45-9DF1-8F334CED20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C32139-6DA5-2043-9175-DFE6038FA0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14F46-F9FA-B449-862D-E0D4AE65EDBB}"/>
              </a:ext>
            </a:extLst>
          </p:cNvPr>
          <p:cNvSpPr>
            <a:spLocks noGrp="1"/>
          </p:cNvSpPr>
          <p:nvPr>
            <p:ph type="dt" sz="half" idx="10"/>
          </p:nvPr>
        </p:nvSpPr>
        <p:spPr/>
        <p:txBody>
          <a:bodyPr/>
          <a:lstStyle/>
          <a:p>
            <a:fld id="{5E20F639-1228-7243-A2F0-657A69CD7AE0}" type="datetimeFigureOut">
              <a:rPr lang="en-US" smtClean="0"/>
              <a:t>2/13/24</a:t>
            </a:fld>
            <a:endParaRPr lang="en-US"/>
          </a:p>
        </p:txBody>
      </p:sp>
      <p:sp>
        <p:nvSpPr>
          <p:cNvPr id="5" name="Footer Placeholder 4">
            <a:extLst>
              <a:ext uri="{FF2B5EF4-FFF2-40B4-BE49-F238E27FC236}">
                <a16:creationId xmlns:a16="http://schemas.microsoft.com/office/drawing/2014/main" id="{AD2B971B-2616-524A-8C4C-040005FE75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49C13-A1A6-B141-BBDB-833C4CD5C57E}"/>
              </a:ext>
            </a:extLst>
          </p:cNvPr>
          <p:cNvSpPr>
            <a:spLocks noGrp="1"/>
          </p:cNvSpPr>
          <p:nvPr>
            <p:ph type="sldNum" sz="quarter" idx="12"/>
          </p:nvPr>
        </p:nvSpPr>
        <p:spPr/>
        <p:txBody>
          <a:bodyPr/>
          <a:lstStyle/>
          <a:p>
            <a:fld id="{6BAE449B-A651-C547-8627-49764A228AE9}" type="slidenum">
              <a:rPr lang="en-US" smtClean="0"/>
              <a:t>‹#›</a:t>
            </a:fld>
            <a:endParaRPr lang="en-US"/>
          </a:p>
        </p:txBody>
      </p:sp>
    </p:spTree>
    <p:extLst>
      <p:ext uri="{BB962C8B-B14F-4D97-AF65-F5344CB8AC3E}">
        <p14:creationId xmlns:p14="http://schemas.microsoft.com/office/powerpoint/2010/main" val="823943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29E9B-3965-E045-917D-9E54B71E7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A59260-F411-FD4D-A166-A9E8BC7A2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33B3F4D-D427-2843-891B-FC617A978A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0F639-1228-7243-A2F0-657A69CD7AE0}" type="datetimeFigureOut">
              <a:rPr lang="en-US" smtClean="0"/>
              <a:t>2/13/24</a:t>
            </a:fld>
            <a:endParaRPr lang="en-US"/>
          </a:p>
        </p:txBody>
      </p:sp>
      <p:sp>
        <p:nvSpPr>
          <p:cNvPr id="5" name="Footer Placeholder 4">
            <a:extLst>
              <a:ext uri="{FF2B5EF4-FFF2-40B4-BE49-F238E27FC236}">
                <a16:creationId xmlns:a16="http://schemas.microsoft.com/office/drawing/2014/main" id="{9E5E0381-C5C2-E84C-B738-032FB7E8C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CD36681-3C84-6C4D-8523-93C7C639CB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AE449B-A651-C547-8627-49764A228AE9}" type="slidenum">
              <a:rPr lang="en-US" smtClean="0"/>
              <a:t>‹#›</a:t>
            </a:fld>
            <a:endParaRPr lang="en-US"/>
          </a:p>
        </p:txBody>
      </p:sp>
    </p:spTree>
    <p:extLst>
      <p:ext uri="{BB962C8B-B14F-4D97-AF65-F5344CB8AC3E}">
        <p14:creationId xmlns:p14="http://schemas.microsoft.com/office/powerpoint/2010/main" val="90213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rgbClr val="79242F"/>
          </a:solidFill>
          <a:latin typeface="Avenir Next LT Pro" panose="020B0504020202020204"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mailto:nowlinmc@cofc.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31AFC4A-CD2F-4DFB-B4C5-B63E18762FB5}"/>
              </a:ext>
            </a:extLst>
          </p:cNvPr>
          <p:cNvSpPr>
            <a:spLocks noGrp="1"/>
          </p:cNvSpPr>
          <p:nvPr>
            <p:ph type="ctrTitle"/>
          </p:nvPr>
        </p:nvSpPr>
        <p:spPr>
          <a:xfrm>
            <a:off x="2032551" y="2297736"/>
            <a:ext cx="8126896" cy="1102519"/>
          </a:xfrm>
        </p:spPr>
        <p:txBody>
          <a:bodyPr>
            <a:normAutofit fontScale="90000"/>
          </a:bodyPr>
          <a:lstStyle/>
          <a:p>
            <a:pPr marL="0" lvl="0" indent="0">
              <a:buNone/>
            </a:pPr>
            <a:r>
              <a:t>Flood Risk and the Public’s Willingness to Relocate</a:t>
            </a:r>
          </a:p>
        </p:txBody>
      </p:sp>
      <p:sp>
        <p:nvSpPr>
          <p:cNvPr id="3" name="Subtitle 2">
            <a:extLst>
              <a:ext uri="{FF2B5EF4-FFF2-40B4-BE49-F238E27FC236}">
                <a16:creationId xmlns:a16="http://schemas.microsoft.com/office/drawing/2014/main" id="{BC183DD1-DB12-614D-B586-D45DC997EB81}"/>
              </a:ext>
            </a:extLst>
          </p:cNvPr>
          <p:cNvSpPr>
            <a:spLocks noGrp="1"/>
          </p:cNvSpPr>
          <p:nvPr>
            <p:ph type="subTitle" idx="1" hasCustomPrompt="1"/>
          </p:nvPr>
        </p:nvSpPr>
        <p:spPr>
          <a:xfrm>
            <a:off x="1524000" y="3602038"/>
            <a:ext cx="9144000" cy="1655762"/>
          </a:xfrm>
        </p:spPr>
        <p:txBody>
          <a:bodyPr>
            <a:normAutofit fontScale="92500" lnSpcReduction="20000"/>
          </a:bodyPr>
          <a:lstStyle/>
          <a:p>
            <a:pPr marL="0" lvl="0" indent="0">
              <a:buNone/>
            </a:pPr>
            <a:br>
              <a:rPr dirty="0"/>
            </a:br>
            <a:br>
              <a:rPr dirty="0"/>
            </a:br>
            <a:r>
              <a:rPr sz="2600" b="1" dirty="0"/>
              <a:t>Matthew C. Nowlin, Ph.D.</a:t>
            </a:r>
            <a:br>
              <a:rPr sz="2600" b="1" dirty="0"/>
            </a:br>
            <a:r>
              <a:rPr dirty="0"/>
              <a:t>Director, MPA Program</a:t>
            </a:r>
            <a:br>
              <a:rPr dirty="0"/>
            </a:br>
            <a:r>
              <a:rPr dirty="0"/>
              <a:t>Associate Professor of Political Science</a:t>
            </a:r>
            <a:br>
              <a:rPr dirty="0"/>
            </a:br>
            <a:r>
              <a:rPr dirty="0"/>
              <a:t>College of Charleston</a:t>
            </a:r>
          </a:p>
        </p:txBody>
      </p:sp>
      <p:sp>
        <p:nvSpPr>
          <p:cNvPr id="2" name="Date Placeholder 3">
            <a:extLst>
              <a:ext uri="{FF2B5EF4-FFF2-40B4-BE49-F238E27FC236}">
                <a16:creationId xmlns:a16="http://schemas.microsoft.com/office/drawing/2014/main" id="{8F928C9E-E23E-3DD4-4F82-65F85CF3370E}"/>
              </a:ext>
            </a:extLst>
          </p:cNvPr>
          <p:cNvSpPr>
            <a:spLocks noGrp="1"/>
          </p:cNvSpPr>
          <p:nvPr>
            <p:ph type="dt" sz="half" idx="10"/>
          </p:nvPr>
        </p:nvSpPr>
        <p:spPr>
          <a:xfrm>
            <a:off x="1523999" y="5430838"/>
            <a:ext cx="6576391" cy="365125"/>
          </a:xfrm>
        </p:spPr>
        <p:txBody>
          <a:bodyPr/>
          <a:lstStyle/>
          <a:p>
            <a:pPr marL="0" lvl="0" indent="0">
              <a:buNone/>
            </a:pPr>
            <a:r>
              <a:rPr lang="en-US" sz="1800" b="1" i="1" dirty="0">
                <a:latin typeface="AvenirNext LT Pro Regular" panose="020B0504020202020204" pitchFamily="34" charset="77"/>
              </a:rPr>
              <a:t>Social Coast Forum, February 2024, Charleston, SC </a:t>
            </a:r>
            <a:endParaRPr sz="1800" b="1" i="1" dirty="0">
              <a:latin typeface="AvenirNext LT Pro Regular" panose="020B0504020202020204"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Motivation</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dirty="0"/>
              <a:t>What influences public support for a property buyout program?</a:t>
            </a:r>
          </a:p>
          <a:p>
            <a:pPr lvl="0"/>
            <a:r>
              <a:rPr dirty="0"/>
              <a:t>Climate change is likely to cause migration and retreat from vulnerable areas</a:t>
            </a:r>
          </a:p>
          <a:p>
            <a:pPr lvl="1"/>
            <a:r>
              <a:rPr i="1" dirty="0"/>
              <a:t>Increased flooding</a:t>
            </a:r>
          </a:p>
          <a:p>
            <a:pPr lvl="0"/>
            <a:r>
              <a:rPr dirty="0"/>
              <a:t>Expanding property buyout programs are one approach being considered by governments to manage migration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Buyout Program</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lvl="0"/>
            <a:r>
              <a:t>Federal Emergency Management Agency (FEMA)</a:t>
            </a:r>
          </a:p>
          <a:p>
            <a:pPr lvl="1"/>
            <a:r>
              <a:t>Hazard Mitigation Grant Program (HMGP)</a:t>
            </a:r>
          </a:p>
          <a:p>
            <a:pPr lvl="0"/>
            <a:r>
              <a:t>Department of Housing and Urban Development (HUD)</a:t>
            </a:r>
          </a:p>
          <a:p>
            <a:pPr lvl="0"/>
            <a:r>
              <a:t>South Carolina Office of Resilience</a:t>
            </a:r>
          </a:p>
          <a:p>
            <a:pPr lvl="1"/>
            <a:r>
              <a:t>Funding from HUD Community Development Block Grant-Mitigation (CDBG-MIT)</a:t>
            </a:r>
          </a:p>
          <a:p>
            <a:pPr lvl="1"/>
            <a:r>
              <a:t>Voluntary</a:t>
            </a:r>
          </a:p>
          <a:p>
            <a:pPr lvl="1"/>
            <a:r>
              <a:t>Residential properties in a floodplain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Public Support for Buyout Program</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Potential Factors</a:t>
            </a:r>
          </a:p>
        </p:txBody>
      </p:sp>
      <p:sp>
        <p:nvSpPr>
          <p:cNvPr id="4" name="Content Placeholder 2">
            <a:extLst>
              <a:ext uri="{FF2B5EF4-FFF2-40B4-BE49-F238E27FC236}">
                <a16:creationId xmlns:a16="http://schemas.microsoft.com/office/drawing/2014/main" id="{E0BEDAE7-02CF-122A-55AC-6881467EFA5C}"/>
              </a:ext>
            </a:extLst>
          </p:cNvPr>
          <p:cNvSpPr txBox="1">
            <a:spLocks/>
          </p:cNvSpPr>
          <p:nvPr/>
        </p:nvSpPr>
        <p:spPr>
          <a:xfrm>
            <a:off x="838200" y="2412034"/>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Flood risk</a:t>
            </a:r>
          </a:p>
          <a:p>
            <a:r>
              <a:rPr lang="en-US"/>
              <a:t>Community factors</a:t>
            </a:r>
          </a:p>
          <a:p>
            <a:r>
              <a:rPr lang="en-US"/>
              <a:t>Individual factors</a:t>
            </a:r>
            <a:endParaRPr lang="en-US" dirty="0"/>
          </a:p>
        </p:txBody>
      </p:sp>
      <p:pic>
        <p:nvPicPr>
          <p:cNvPr id="5" name="Picture 4" descr="scor.png">
            <a:extLst>
              <a:ext uri="{FF2B5EF4-FFF2-40B4-BE49-F238E27FC236}">
                <a16:creationId xmlns:a16="http://schemas.microsoft.com/office/drawing/2014/main" id="{89CB4C95-3EAE-1233-CACA-B27E0712314F}"/>
              </a:ext>
            </a:extLst>
          </p:cNvPr>
          <p:cNvPicPr>
            <a:picLocks noGrp="1" noChangeAspect="1"/>
          </p:cNvPicPr>
          <p:nvPr/>
        </p:nvPicPr>
        <p:blipFill>
          <a:blip r:embed="rId2"/>
          <a:stretch>
            <a:fillRect/>
          </a:stretch>
        </p:blipFill>
        <p:spPr bwMode="auto">
          <a:xfrm>
            <a:off x="6172202" y="1690688"/>
            <a:ext cx="3663404" cy="5113813"/>
          </a:xfrm>
          <a:prstGeom prst="rect">
            <a:avLst/>
          </a:prstGeom>
          <a:noFill/>
          <a:ln w="9525">
            <a:noFill/>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BD46-F0D4-6D4D-BE5B-DCFD06B89794}"/>
              </a:ext>
            </a:extLst>
          </p:cNvPr>
          <p:cNvSpPr>
            <a:spLocks noGrp="1"/>
          </p:cNvSpPr>
          <p:nvPr>
            <p:ph type="title" hasCustomPrompt="1"/>
          </p:nvPr>
        </p:nvSpPr>
        <p:spPr>
          <a:xfrm>
            <a:off x="831850" y="1709738"/>
            <a:ext cx="10515600" cy="2852737"/>
          </a:xfrm>
        </p:spPr>
        <p:txBody>
          <a:bodyPr/>
          <a:lstStyle/>
          <a:p>
            <a:pPr marL="0" lvl="0" indent="0">
              <a:buNone/>
            </a:pPr>
            <a:r>
              <a:t>Data and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Survey</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lvl="0"/>
            <a:r>
              <a:t>Residents of South Carolina</a:t>
            </a:r>
          </a:p>
          <a:p>
            <a:pPr lvl="1"/>
            <a:r>
              <a:t>Recruited by </a:t>
            </a:r>
            <a:r>
              <a:rPr i="1"/>
              <a:t>Cloud Research</a:t>
            </a:r>
          </a:p>
          <a:p>
            <a:pPr lvl="1"/>
            <a:r>
              <a:t>November - December 2023</a:t>
            </a:r>
          </a:p>
          <a:p>
            <a:pPr lvl="1"/>
            <a:r>
              <a:rPr i="1"/>
              <a:t>n</a:t>
            </a:r>
            <a:r>
              <a:t> = ~500</a:t>
            </a:r>
          </a:p>
          <a:p>
            <a:pPr lvl="0"/>
            <a:r>
              <a:t>Flood days treatment</a:t>
            </a:r>
          </a:p>
          <a:p>
            <a:pPr lvl="1"/>
            <a:r>
              <a:t>Random draw from 7-200 days of disruptive flooding</a:t>
            </a:r>
          </a:p>
          <a:p>
            <a:pPr lvl="1"/>
            <a:r>
              <a:t>Support for buyout program pre-and-post flood days treatment</a:t>
            </a:r>
            <a:b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Property Buyout</a:t>
            </a:r>
          </a:p>
          <a:p>
            <a:pPr marL="0" lvl="0" indent="0">
              <a:buNone/>
            </a:pPr>
            <a:r>
              <a:rPr i="1"/>
              <a:t>Property buyouts are a policy for reducing risk to people and communities from severe storms, flooding, wildfires, and other extreme events. Buyouts also reduce costs to homeowners, insurance companies, and the government for rebuilding after events. In a buyout program, the government purchases private properties including homes and businesses that are damaged or at risk. Participating property owners must then relocate.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Property Buyout</a:t>
            </a:r>
          </a:p>
          <a:p>
            <a:pPr marL="0" lvl="0" indent="0">
              <a:buNone/>
            </a:pPr>
            <a:r>
              <a:rPr b="1" i="1"/>
              <a:t>On a scale from 1 to 7, with 1 being strongly oppose and 7 being strongly support</a:t>
            </a:r>
            <a:r>
              <a:rPr i="1"/>
              <a:t>, please indicate your support for a property buyout program in South Carolina. In this program the federal government would purchase homes and businesses in South Carolina that have been damaged or at risk from natural disasters and the owners would need to move.</a:t>
            </a:r>
          </a:p>
          <a:p>
            <a:pPr lvl="0"/>
            <a:r>
              <a:rPr b="1"/>
              <a:t>Average support = 4.17 on the 1 to 7 scale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Flood Risk</a:t>
            </a:r>
          </a:p>
          <a:p>
            <a:pPr lvl="0"/>
            <a:r>
              <a:t>Concern over flooding in local area, </a:t>
            </a:r>
            <a:r>
              <a:rPr i="1"/>
              <a:t>0 to 10 scale</a:t>
            </a:r>
          </a:p>
          <a:p>
            <a:pPr lvl="1"/>
            <a:r>
              <a:t>Average concern = 5.302</a:t>
            </a:r>
          </a:p>
          <a:p>
            <a:pPr lvl="0"/>
            <a:r>
              <a:t>Flood experience, </a:t>
            </a:r>
            <a:r>
              <a:rPr i="1"/>
              <a:t>0 = never experienced a flood, 1 = experienced a flood</a:t>
            </a:r>
          </a:p>
          <a:p>
            <a:pPr lvl="1"/>
            <a:r>
              <a:t>34% of respondents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Community Factors</a:t>
            </a:r>
          </a:p>
          <a:p>
            <a:pPr lvl="0"/>
            <a:r>
              <a:t>Satisfaction with community infrastructure (local government services, drinking water, roads, sewer*), </a:t>
            </a:r>
            <a:r>
              <a:rPr i="1"/>
              <a:t>1 to 5 scale</a:t>
            </a:r>
          </a:p>
          <a:p>
            <a:pPr lvl="1"/>
            <a:r>
              <a:t>Average satisfaction = 2.78</a:t>
            </a:r>
          </a:p>
          <a:p>
            <a:pPr lvl="1"/>
            <a:r>
              <a:t>Cronbach’s </a:t>
            </a:r>
            <a14:m xmlns:a14="http://schemas.microsoft.com/office/drawing/2010/main">
              <m:oMath xmlns:m="http://schemas.openxmlformats.org/officeDocument/2006/math">
                <m:r>
                  <a:rPr>
                    <a:latin typeface="Cambria Math" panose="02040503050406030204" pitchFamily="18" charset="0"/>
                  </a:rPr>
                  <m:t>𝛼</m:t>
                </m:r>
              </m:oMath>
            </a14:m>
            <a:r>
              <a:t> = 0.69</a:t>
            </a:r>
          </a:p>
          <a:p>
            <a:pPr lvl="0"/>
            <a:r>
              <a:t>Perceived community resilience and disaster response, </a:t>
            </a:r>
            <a:r>
              <a:rPr i="1"/>
              <a:t>1 to 7 scale</a:t>
            </a:r>
          </a:p>
          <a:p>
            <a:pPr lvl="1"/>
            <a:r>
              <a:t>Average = 4.54</a:t>
            </a:r>
          </a:p>
          <a:p>
            <a:pPr lvl="1"/>
            <a:r>
              <a:t>Cronbach’s </a:t>
            </a:r>
            <a14:m xmlns:a14="http://schemas.microsoft.com/office/drawing/2010/main">
              <m:oMath xmlns:m="http://schemas.openxmlformats.org/officeDocument/2006/math">
                <m:r>
                  <a:rPr>
                    <a:latin typeface="Cambria Math" panose="02040503050406030204" pitchFamily="18" charset="0"/>
                  </a:rPr>
                  <m:t>𝛼</m:t>
                </m:r>
              </m:oMath>
            </a14:m>
            <a:r>
              <a:t> = 0.89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Community Factors</a:t>
            </a:r>
          </a:p>
          <a:p>
            <a:pPr lvl="0"/>
            <a:r>
              <a:t>Live in a coastal county, </a:t>
            </a:r>
            <a:r>
              <a:rPr i="1"/>
              <a:t>0 = no, 1 = yes</a:t>
            </a:r>
          </a:p>
          <a:p>
            <a:pPr lvl="1"/>
            <a:r>
              <a:t>27% of respondents</a:t>
            </a:r>
          </a:p>
          <a:p>
            <a:pPr lvl="0"/>
            <a:r>
              <a:t>Bridging social capital, </a:t>
            </a:r>
            <a:r>
              <a:rPr i="1"/>
              <a:t>1 to 5 scale</a:t>
            </a:r>
          </a:p>
          <a:p>
            <a:pPr lvl="1"/>
            <a:r>
              <a:t>Average = 2.47</a:t>
            </a:r>
          </a:p>
          <a:p>
            <a:pPr lvl="1"/>
            <a:r>
              <a:t>Cronbach’s </a:t>
            </a:r>
            <a14:m xmlns:a14="http://schemas.microsoft.com/office/drawing/2010/main">
              <m:oMath xmlns:m="http://schemas.openxmlformats.org/officeDocument/2006/math">
                <m:r>
                  <a:rPr>
                    <a:latin typeface="Cambria Math" panose="02040503050406030204" pitchFamily="18" charset="0"/>
                  </a:rPr>
                  <m:t>𝛼</m:t>
                </m:r>
              </m:oMath>
            </a14:m>
            <a:r>
              <a:t> = 0.87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Individual Factors</a:t>
            </a:r>
          </a:p>
          <a:p>
            <a:pPr lvl="0"/>
            <a:r>
              <a:t>Bonding social capital, </a:t>
            </a:r>
            <a:r>
              <a:rPr i="1"/>
              <a:t>1 to 5 scale</a:t>
            </a:r>
          </a:p>
          <a:p>
            <a:pPr lvl="1"/>
            <a:r>
              <a:t>Average = 2.59</a:t>
            </a:r>
          </a:p>
          <a:p>
            <a:pPr lvl="1"/>
            <a:r>
              <a:t>Cronbach’s </a:t>
            </a:r>
            <a14:m xmlns:a14="http://schemas.microsoft.com/office/drawing/2010/main">
              <m:oMath xmlns:m="http://schemas.openxmlformats.org/officeDocument/2006/math">
                <m:r>
                  <a:rPr>
                    <a:latin typeface="Cambria Math" panose="02040503050406030204" pitchFamily="18" charset="0"/>
                  </a:rPr>
                  <m:t>𝛼</m:t>
                </m:r>
              </m:oMath>
            </a14:m>
            <a:r>
              <a:t> = 0.79</a:t>
            </a:r>
          </a:p>
          <a:p>
            <a:pPr lvl="0"/>
            <a:r>
              <a:t>Political ideology, </a:t>
            </a:r>
            <a:r>
              <a:rPr i="1"/>
              <a:t>1 (very liberal) to 7 (very conservative) scale</a:t>
            </a:r>
          </a:p>
          <a:p>
            <a:pPr lvl="1"/>
            <a:r>
              <a:t>Average = 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Measures</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Individual Factors</a:t>
            </a:r>
          </a:p>
          <a:p>
            <a:pPr lvl="0"/>
            <a:r>
              <a:t>Homeowner, </a:t>
            </a:r>
            <a:r>
              <a:rPr i="1"/>
              <a:t>0 = no, 1 = yes</a:t>
            </a:r>
          </a:p>
          <a:p>
            <a:pPr lvl="1"/>
            <a:r>
              <a:t>60% of respondents</a:t>
            </a:r>
          </a:p>
          <a:p>
            <a:pPr lvl="0"/>
            <a:r>
              <a:t>Time at current residence, </a:t>
            </a:r>
            <a:r>
              <a:rPr i="1"/>
              <a:t>1 to 4 scale</a:t>
            </a:r>
          </a:p>
          <a:p>
            <a:pPr lvl="1"/>
            <a:r>
              <a:t>less than 1 year = 1</a:t>
            </a:r>
          </a:p>
          <a:p>
            <a:pPr lvl="1"/>
            <a:r>
              <a:t>1-5 years = 2</a:t>
            </a:r>
          </a:p>
          <a:p>
            <a:pPr lvl="1"/>
            <a:r>
              <a:t>6-10 years = 3</a:t>
            </a:r>
          </a:p>
          <a:p>
            <a:pPr lvl="1"/>
            <a:r>
              <a:t>11+ years = 4</a:t>
            </a:r>
          </a:p>
          <a:p>
            <a:pPr lvl="1"/>
            <a:r>
              <a:rPr i="1"/>
              <a:t>Average = 2.75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BD46-F0D4-6D4D-BE5B-DCFD06B89794}"/>
              </a:ext>
            </a:extLst>
          </p:cNvPr>
          <p:cNvSpPr>
            <a:spLocks noGrp="1"/>
          </p:cNvSpPr>
          <p:nvPr>
            <p:ph type="title" hasCustomPrompt="1"/>
          </p:nvPr>
        </p:nvSpPr>
        <p:spPr>
          <a:xfrm>
            <a:off x="831850" y="1709738"/>
            <a:ext cx="10515600" cy="2852737"/>
          </a:xfrm>
        </p:spPr>
        <p:txBody>
          <a:bodyPr/>
          <a:lstStyle/>
          <a:p>
            <a:pPr marL="0" lvl="0" indent="0">
              <a:buNone/>
            </a:pPr>
            <a:r>
              <a:t>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Baseline Buyout Support</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lvl="0"/>
            <a:r>
              <a:t>Coefficient plots, grouped by factors</a:t>
            </a:r>
          </a:p>
          <a:p>
            <a:pPr lvl="1"/>
            <a:r>
              <a:t>Flood risk</a:t>
            </a:r>
          </a:p>
          <a:p>
            <a:pPr lvl="1"/>
            <a:r>
              <a:t>Community</a:t>
            </a:r>
          </a:p>
          <a:p>
            <a:pPr lvl="1"/>
            <a:r>
              <a:t>Individuals</a:t>
            </a:r>
          </a:p>
          <a:p>
            <a:pPr lvl="0"/>
            <a:r>
              <a:t>Results shown control for all variables including demographics (age, gender, race/ethnicity, education, income)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Baseline Buyout Support</a:t>
            </a:r>
          </a:p>
        </p:txBody>
      </p:sp>
      <p:pic>
        <p:nvPicPr>
          <p:cNvPr id="3" name="Picture 1" descr="SCflooding-SocialCoast2024_files/figure-pptx/unnamed-chunk-3-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Baseline Buyout Support</a:t>
            </a:r>
          </a:p>
        </p:txBody>
      </p:sp>
      <p:pic>
        <p:nvPicPr>
          <p:cNvPr id="3" name="Picture 1" descr="SCflooding-SocialCoast2024_files/figure-pptx/unnamed-chunk-4-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Baseline Buyout Support</a:t>
            </a:r>
          </a:p>
        </p:txBody>
      </p:sp>
      <p:pic>
        <p:nvPicPr>
          <p:cNvPr id="3" name="Picture 1" descr="SCflooding-SocialCoast2024_files/figure-pptx/unnamed-chunk-5-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Flood Days and Buyout Support</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lvl="0"/>
            <a:r>
              <a:t>Homeowners and renters</a:t>
            </a:r>
          </a:p>
          <a:p>
            <a:pPr lvl="1"/>
            <a:r>
              <a:t>Homeowner willing to accept buyout, </a:t>
            </a:r>
            <a:r>
              <a:rPr i="1"/>
              <a:t>1 (very unlikely) to 7 (very likely) scale</a:t>
            </a:r>
          </a:p>
          <a:p>
            <a:pPr lvl="1"/>
            <a:r>
              <a:t>Renters support for buyout program</a:t>
            </a:r>
          </a:p>
          <a:p>
            <a:pPr lvl="0"/>
            <a:r>
              <a:t>Results shown control for all variables including </a:t>
            </a:r>
            <a:r>
              <a:rPr i="1"/>
              <a:t>baseline buyout support</a:t>
            </a:r>
            <a:r>
              <a:t> and demographics (age, gender, race/ethnicity, education, income)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60BA7-8AA2-314D-8176-9E5A15C98DA5}"/>
              </a:ext>
            </a:extLst>
          </p:cNvPr>
          <p:cNvSpPr>
            <a:spLocks noGrp="1"/>
          </p:cNvSpPr>
          <p:nvPr>
            <p:ph type="title" hasCustomPrompt="1"/>
          </p:nvPr>
        </p:nvSpPr>
        <p:spPr/>
        <p:txBody>
          <a:bodyPr/>
          <a:lstStyle/>
          <a:p>
            <a:pPr marL="0" lvl="0" indent="0">
              <a:buNone/>
            </a:pPr>
            <a:r>
              <a:t>Results: Flood Days and Buyout Support</a:t>
            </a:r>
          </a:p>
        </p:txBody>
      </p:sp>
      <p:pic>
        <p:nvPicPr>
          <p:cNvPr id="3" name="Picture 1" descr="SCflooding-SocialCoast2024_files/figure-pptx/unnamed-chunk-6-1.png"/>
          <p:cNvPicPr>
            <a:picLocks noGrp="1" noChangeAspect="1"/>
          </p:cNvPicPr>
          <p:nvPr/>
        </p:nvPicPr>
        <p:blipFill>
          <a:blip r:embed="rId2"/>
          <a:stretch>
            <a:fillRect/>
          </a:stretch>
        </p:blipFill>
        <p:spPr bwMode="auto">
          <a:xfrm>
            <a:off x="838200" y="2692400"/>
            <a:ext cx="5181600" cy="2590800"/>
          </a:xfrm>
          <a:prstGeom prst="rect">
            <a:avLst/>
          </a:prstGeom>
          <a:noFill/>
          <a:ln w="9525">
            <a:noFill/>
            <a:headEnd/>
            <a:tailEnd/>
          </a:ln>
        </p:spPr>
      </p:pic>
      <p:pic>
        <p:nvPicPr>
          <p:cNvPr id="4" name="Picture 1" descr="SCflooding-SocialCoast2024_files/figure-pptx/unnamed-chunk-7-1.png"/>
          <p:cNvPicPr>
            <a:picLocks noGrp="1" noChangeAspect="1"/>
          </p:cNvPicPr>
          <p:nvPr/>
        </p:nvPicPr>
        <p:blipFill>
          <a:blip r:embed="rId3"/>
          <a:stretch>
            <a:fillRect/>
          </a:stretch>
        </p:blipFill>
        <p:spPr bwMode="auto">
          <a:xfrm>
            <a:off x="6172200" y="2692400"/>
            <a:ext cx="5181600" cy="2590800"/>
          </a:xfrm>
          <a:prstGeom prst="rect">
            <a:avLst/>
          </a:prstGeom>
          <a:noFill/>
          <a:ln w="9525">
            <a:noFill/>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Post-Buyout Support</a:t>
            </a:r>
          </a:p>
        </p:txBody>
      </p:sp>
      <p:pic>
        <p:nvPicPr>
          <p:cNvPr id="3" name="Picture 1" descr="SCflooding-SocialCoast2024_files/figure-pptx/unnamed-chunk-8-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Post-Buyout Support</a:t>
            </a:r>
          </a:p>
        </p:txBody>
      </p:sp>
      <p:pic>
        <p:nvPicPr>
          <p:cNvPr id="3" name="Picture 1" descr="SCflooding-SocialCoast2024_files/figure-pptx/unnamed-chunk-9-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Results: Post-Buyout Support</a:t>
            </a:r>
          </a:p>
        </p:txBody>
      </p:sp>
      <p:pic>
        <p:nvPicPr>
          <p:cNvPr id="3" name="Picture 1" descr="SCflooding-SocialCoast2024_files/figure-pptx/unnamed-chunk-10-1.png"/>
          <p:cNvPicPr>
            <a:picLocks noGrp="1" noChangeAspect="1"/>
          </p:cNvPicPr>
          <p:nvPr/>
        </p:nvPicPr>
        <p:blipFill>
          <a:blip r:embed="rId2"/>
          <a:stretch>
            <a:fillRect/>
          </a:stretch>
        </p:blipFill>
        <p:spPr bwMode="auto">
          <a:xfrm>
            <a:off x="1752600" y="1816100"/>
            <a:ext cx="8686800" cy="4343400"/>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Discussion</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Baseline support</a:t>
            </a:r>
          </a:p>
          <a:p>
            <a:pPr lvl="0"/>
            <a:r>
              <a:t>Flood risk (concern and experience)</a:t>
            </a:r>
          </a:p>
          <a:p>
            <a:pPr lvl="0"/>
            <a:r>
              <a:t>Community factors</a:t>
            </a:r>
          </a:p>
          <a:p>
            <a:pPr lvl="1"/>
            <a:r>
              <a:rPr b="1"/>
              <a:t>Increased community satisfaction (infrastructure, resilience, bridging social capital) associated with </a:t>
            </a:r>
            <a:r>
              <a:rPr b="1" i="1"/>
              <a:t>increased</a:t>
            </a:r>
            <a:r>
              <a:rPr b="1"/>
              <a:t> support</a:t>
            </a:r>
          </a:p>
          <a:p>
            <a:pPr lvl="1"/>
            <a:r>
              <a:t>Coastal county residents more supportive than others</a:t>
            </a:r>
          </a:p>
          <a:p>
            <a:pPr lvl="0"/>
            <a:r>
              <a:t>Individual factors</a:t>
            </a:r>
          </a:p>
          <a:p>
            <a:pPr lvl="1"/>
            <a:r>
              <a:t>Increased bonding social capital, longer at current address, and more politically conservative associated with </a:t>
            </a:r>
            <a:r>
              <a:rPr i="1"/>
              <a:t>decreased</a:t>
            </a:r>
            <a:r>
              <a:t> support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F8E3-815D-E54A-8ABE-0F5EC28022BD}"/>
              </a:ext>
            </a:extLst>
          </p:cNvPr>
          <p:cNvSpPr>
            <a:spLocks noGrp="1"/>
          </p:cNvSpPr>
          <p:nvPr>
            <p:ph type="title" hasCustomPrompt="1"/>
          </p:nvPr>
        </p:nvSpPr>
        <p:spPr/>
        <p:txBody>
          <a:bodyPr/>
          <a:lstStyle/>
          <a:p>
            <a:pPr marL="0" lvl="0" indent="0">
              <a:buNone/>
            </a:pPr>
            <a:r>
              <a:t>Discussion</a:t>
            </a:r>
          </a:p>
        </p:txBody>
      </p:sp>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p:txBody>
          <a:bodyPr/>
          <a:lstStyle/>
          <a:p>
            <a:pPr marL="0" lvl="0" indent="0">
              <a:spcBef>
                <a:spcPts val="3000"/>
              </a:spcBef>
              <a:buNone/>
            </a:pPr>
            <a:r>
              <a:rPr b="1"/>
              <a:t>Post-support</a:t>
            </a:r>
          </a:p>
          <a:p>
            <a:pPr lvl="0"/>
            <a:r>
              <a:t>Homeowners</a:t>
            </a:r>
          </a:p>
          <a:p>
            <a:pPr lvl="1"/>
            <a:r>
              <a:t>Increased flood days associated with small increase in likelihood of accepting a buyout</a:t>
            </a:r>
          </a:p>
          <a:p>
            <a:pPr lvl="0"/>
            <a:r>
              <a:t>Renters</a:t>
            </a:r>
          </a:p>
          <a:p>
            <a:pPr lvl="1"/>
            <a:r>
              <a:t>Infrastructure satisfaction associated with </a:t>
            </a:r>
            <a:r>
              <a:rPr i="1"/>
              <a:t>increased</a:t>
            </a:r>
            <a:r>
              <a:t> support</a:t>
            </a:r>
          </a:p>
          <a:p>
            <a:pPr lvl="1"/>
            <a:r>
              <a:t>Less perceived community resilience associated with </a:t>
            </a:r>
            <a:r>
              <a:rPr i="1"/>
              <a:t>increased</a:t>
            </a:r>
            <a:r>
              <a:t> support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B435E7-D930-D442-BF54-20ED18DE6A98}"/>
              </a:ext>
            </a:extLst>
          </p:cNvPr>
          <p:cNvSpPr>
            <a:spLocks noGrp="1"/>
          </p:cNvSpPr>
          <p:nvPr>
            <p:ph idx="1"/>
          </p:nvPr>
        </p:nvSpPr>
        <p:spPr>
          <a:xfrm>
            <a:off x="838200" y="1253331"/>
            <a:ext cx="10515600" cy="4351338"/>
          </a:xfrm>
        </p:spPr>
        <p:txBody>
          <a:bodyPr>
            <a:normAutofit/>
          </a:bodyPr>
          <a:lstStyle/>
          <a:p>
            <a:pPr marL="0" lvl="0" indent="0" algn="ctr">
              <a:buNone/>
            </a:pPr>
            <a:r>
              <a:rPr sz="4000" dirty="0"/>
              <a:t>Comments and Questions</a:t>
            </a:r>
            <a:endParaRPr lang="en-US" sz="4000" dirty="0"/>
          </a:p>
          <a:p>
            <a:pPr marL="0" lvl="0" indent="0" algn="ctr">
              <a:buNone/>
            </a:pPr>
            <a:endParaRPr lang="en-US" sz="4000" dirty="0"/>
          </a:p>
          <a:p>
            <a:pPr marL="0" lvl="0" indent="0" algn="ctr">
              <a:buNone/>
            </a:pPr>
            <a:r>
              <a:rPr lang="en-US" dirty="0"/>
              <a:t>Matthew C. Nowlin</a:t>
            </a:r>
          </a:p>
          <a:p>
            <a:pPr marL="0" lvl="0" indent="0" algn="ctr">
              <a:buNone/>
            </a:pPr>
            <a:r>
              <a:rPr lang="en-US" sz="2000" dirty="0"/>
              <a:t>Director, MPA Program </a:t>
            </a:r>
          </a:p>
          <a:p>
            <a:pPr marL="0" lvl="0" indent="0" algn="ctr">
              <a:buNone/>
            </a:pPr>
            <a:r>
              <a:rPr lang="en-US" sz="2000" dirty="0"/>
              <a:t>Associate Professor, </a:t>
            </a:r>
          </a:p>
          <a:p>
            <a:pPr marL="0" lvl="0" indent="0" algn="ctr">
              <a:buNone/>
            </a:pPr>
            <a:r>
              <a:rPr lang="en-US" sz="2000" dirty="0"/>
              <a:t>Dept. of Political Science</a:t>
            </a:r>
          </a:p>
          <a:p>
            <a:pPr marL="0" lvl="0" indent="0" algn="ctr">
              <a:buNone/>
            </a:pPr>
            <a:r>
              <a:rPr lang="en-US" sz="2000" dirty="0"/>
              <a:t>College of Charleston </a:t>
            </a:r>
          </a:p>
          <a:p>
            <a:pPr marL="0" lvl="0" indent="0" algn="ctr">
              <a:buNone/>
            </a:pPr>
            <a:r>
              <a:rPr lang="en-US" dirty="0">
                <a:hlinkClick r:id="rId2"/>
              </a:rPr>
              <a:t>nowlinmc@cofc.edu</a:t>
            </a:r>
            <a:r>
              <a:rPr lang="en-US" dirty="0"/>
              <a:t> </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779</Words>
  <Application>Microsoft Macintosh PowerPoint</Application>
  <PresentationFormat>Widescreen</PresentationFormat>
  <Paragraphs>117</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Avenir Next LT Pro</vt:lpstr>
      <vt:lpstr>AvenirNext LT Pro Medium</vt:lpstr>
      <vt:lpstr>AvenirNext LT Pro Regular</vt:lpstr>
      <vt:lpstr>Calibri</vt:lpstr>
      <vt:lpstr>Cambria Math</vt:lpstr>
      <vt:lpstr>Office Theme</vt:lpstr>
      <vt:lpstr>Flood Risk and the Public’s Willingness to Relocate</vt:lpstr>
      <vt:lpstr>Motivation</vt:lpstr>
      <vt:lpstr>Buyout Program</vt:lpstr>
      <vt:lpstr>Public Support for Buyout Program</vt:lpstr>
      <vt:lpstr>Data and Analysis</vt:lpstr>
      <vt:lpstr>Survey</vt:lpstr>
      <vt:lpstr>Measures</vt:lpstr>
      <vt:lpstr>Measures</vt:lpstr>
      <vt:lpstr>Measures</vt:lpstr>
      <vt:lpstr>Measures</vt:lpstr>
      <vt:lpstr>Measures</vt:lpstr>
      <vt:lpstr>Measures</vt:lpstr>
      <vt:lpstr>Measures</vt:lpstr>
      <vt:lpstr>Results</vt:lpstr>
      <vt:lpstr>Results: Baseline Buyout Support</vt:lpstr>
      <vt:lpstr>Results: Baseline Buyout Support</vt:lpstr>
      <vt:lpstr>Results: Baseline Buyout Support</vt:lpstr>
      <vt:lpstr>Results: Baseline Buyout Support</vt:lpstr>
      <vt:lpstr>Results: Flood Days and Buyout Support</vt:lpstr>
      <vt:lpstr>Results: Flood Days and Buyout Support</vt:lpstr>
      <vt:lpstr>Results: Post-Buyout Support</vt:lpstr>
      <vt:lpstr>Results: Post-Buyout Support</vt:lpstr>
      <vt:lpstr>Results: Post-Buyout Support</vt:lpstr>
      <vt:lpstr>Discussion</vt:lpstr>
      <vt:lpstr>Discussion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1586</TotalTime>
  <Words>7</Words>
  <Application>Microsoft Macintosh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Avenir Next LT Pro</vt:lpstr>
      <vt:lpstr>AvenirNext LT Pro Medium</vt:lpstr>
      <vt:lpstr>AvenirNext LT Pro Regular</vt:lpstr>
      <vt:lpstr>Calibri</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 Risk and the Public’s Willingness to Relocate</dc:title>
  <dc:creator>Matthew C. Nowlin, Ph.D.; Director, MPA Program; Associate Professor of Political Science; College of Charleston</dc:creator>
  <cp:keywords/>
  <cp:lastModifiedBy>Nowlin, Matt</cp:lastModifiedBy>
  <cp:revision>2</cp:revision>
  <dcterms:created xsi:type="dcterms:W3CDTF">2024-02-13T12:47:46Z</dcterms:created>
  <dcterms:modified xsi:type="dcterms:W3CDTF">2024-02-13T13:02:30Z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/Users/nowlinmc/Dropbox/refs.bib</vt:lpwstr>
  </property>
  <property fmtid="{D5CDD505-2E9C-101B-9397-08002B2CF9AE}" pid="5" name="by-author">
    <vt:lpwstr/>
  </property>
  <property fmtid="{D5CDD505-2E9C-101B-9397-08002B2CF9AE}" pid="6" name="csl">
    <vt:lpwstr>/Users/nowlinmc/Dropbox/Projects/Manuscript-Files/csl/american-political-science-association.csl</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